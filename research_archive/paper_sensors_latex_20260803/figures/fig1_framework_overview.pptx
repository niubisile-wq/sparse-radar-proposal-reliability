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16A7C1A-1294-4CA6-8C2C-5C06D6C14A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6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solidFill>
                  <a:schemeClr val="dk1"/>
                </a:solidFill>
              </a:rP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ML Visuals asset library, slide 126: editable 3D cube primitives and visual language.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paper_sensors_20260803.tex: method names, route logic, and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4B505B06-2454-4600-A492-B3CF21A4D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FB522D22-8A42-4519-A303-C726F1E95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F6CBA6A2-F1DD-40AE-93EF-AE68AC1A5E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A7CFF730-A1EE-4CC2-BE22-5BC9054B7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7F780B8E-46FD-424B-B936-46FB03EBEE4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237491DE-6BA2-4324-87FD-D0B7AF37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50E3F8DF-4A00-45AF-843F-C971C294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58D25746-A1A2-4105-82F5-AF45C35BB0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FE5F4553-A44B-4CC2-B363-3FA4D2280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F3EDD0C0-9C1E-48BA-AB28-5EF944FB0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EAD6DE0B-C08E-4100-AF3B-74D5D1DCDF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65FBFAE6-55A4-4C96-901B-6FEFDE8A47B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E260E87F-4D60-4067-B2B8-A2567376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72260D24-331B-4F3C-A993-E5F3688498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A8046D43-2692-41EE-A564-CC8540EB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97556A9B-89A2-4146-B233-6FC6847F8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0241B418-4A05-4A89-A81C-63E6EF20C3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73F491F3-F22B-43AB-8AF7-6FE806E5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C1AB4B07-AFDB-418E-A2C0-297B2103B0A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66810983-B156-451F-BF35-BB5540342442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EEB695E4-FF7F-4BDA-BFD4-8F5DC10F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E87D9FD5-867A-4BBF-895E-3AF4F58D9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E69C05A1-0F78-458D-9CA9-81D3BEA3678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F7C2EE69-CD4C-4AE2-823A-F17B84CBEAC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4F302A55-6B68-48A6-8F07-EB8F3ECEA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9E249198-6423-435A-BA2C-3E0078B942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F4CDA8D8-8152-432B-8991-A390B681C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3D9EF5A1-871F-4A64-8022-7F238D069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F105F64F-E313-4281-87B2-E5CC1D1238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DF62E36B-FD7C-4878-B459-6979BDE3445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2B56C9C6-FDFE-4E4A-A158-6300E5841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5228110E-EE2E-4153-8D78-A7E7220DB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A4F97430-F127-4EE2-9591-C6352BD3D2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red-panel">
            <a:extLst>
              <a:ext uri="{FF2B5EF4-FFF2-40B4-BE49-F238E27FC236}">
                <a16:creationId xmlns:a16="http://schemas.microsoft.com/office/drawing/2014/main" id="{562ABB8D-7556-31DB-F360-EECCD64319AE}"/>
              </a:ext>
            </a:extLst>
          </p:cNvPr>
          <p:cNvSpPr>
            <a:spLocks noGrp="1"/>
          </p:cNvSpPr>
          <p:nvPr/>
        </p:nvSpPr>
        <p:spPr>
          <a:xfrm>
            <a:off x="152399" y="438150"/>
            <a:ext cx="5448301" cy="4267200"/>
          </a:xfrm>
          <a:prstGeom prst="roundRect">
            <a:avLst>
              <a:gd name="adj" fmla="val 2667"/>
            </a:avLst>
          </a:prstGeom>
          <a:solidFill>
            <a:srgbClr val="EAF2F8"/>
          </a:solidFill>
          <a:ln w="11430">
            <a:solidFill>
              <a:srgbClr val="527EA3"/>
            </a:solidFill>
            <a:prstDash val="solid"/>
          </a:ln>
        </p:spPr>
        <p:txBody>
          <a:bodyPr lIns="133350" tIns="76200" rIns="133350" bIns="76200" anchor="t"/>
          <a:lstStyle/>
          <a:p>
            <a:pPr algn="l">
              <a:defRPr sz="1125" b="1">
                <a:solidFill>
                  <a:srgbClr val="527EA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7EA3"/>
                </a:solidFill>
                <a:latin typeface="Arial"/>
                <a:ea typeface="Arial"/>
                <a:cs typeface="Arial"/>
              </a:rPr>
              <a:t>(a) Shared Proposal Construction</a:t>
            </a:r>
          </a:p>
        </p:txBody>
      </p:sp>
      <p:sp>
        <p:nvSpPr>
          <p:cNvPr id="6853" name="Google Shape;6853;p71">
            <a:extLst>
              <a:ext uri="{FF2B5EF4-FFF2-40B4-BE49-F238E27FC236}">
                <a16:creationId xmlns:a16="http://schemas.microsoft.com/office/drawing/2014/main" id="{25117BFA-E2DC-4F7F-A9A8-1B3554F36862}"/>
              </a:ext>
            </a:extLst>
          </p:cNvPr>
          <p:cNvSpPr>
            <a:spLocks noGrp="1"/>
          </p:cNvSpPr>
          <p:nvPr/>
        </p:nvSpPr>
        <p:spPr>
          <a:xfrm>
            <a:off x="2786062" y="1937182"/>
            <a:ext cx="466725" cy="990600"/>
          </a:xfrm>
          <a:prstGeom prst="cube">
            <a:avLst>
              <a:gd name="adj" fmla="val 56788"/>
            </a:avLst>
          </a:prstGeom>
          <a:solidFill>
            <a:srgbClr val="BFD7EA"/>
          </a:solidFill>
          <a:ln w="10478">
            <a:solidFill>
              <a:srgbClr val="5158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2" name="Google Shape;6882;p71">
            <a:extLst>
              <a:ext uri="{FF2B5EF4-FFF2-40B4-BE49-F238E27FC236}">
                <a16:creationId xmlns:a16="http://schemas.microsoft.com/office/drawing/2014/main" id="{B0ACE169-3042-4D43-8329-96CE269792CE}"/>
              </a:ext>
            </a:extLst>
          </p:cNvPr>
          <p:cNvSpPr>
            <a:spLocks noGrp="1"/>
          </p:cNvSpPr>
          <p:nvPr/>
        </p:nvSpPr>
        <p:spPr>
          <a:xfrm>
            <a:off x="4896967" y="1937182"/>
            <a:ext cx="409575" cy="952500"/>
          </a:xfrm>
          <a:prstGeom prst="cube">
            <a:avLst>
              <a:gd name="adj" fmla="val 77968"/>
            </a:avLst>
          </a:prstGeom>
          <a:solidFill>
            <a:srgbClr val="A8C4DF"/>
          </a:solidFill>
          <a:ln w="10478">
            <a:solidFill>
              <a:srgbClr val="5158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4" name="radar-anchor">
            <a:extLst>
              <a:ext uri="{FF2B5EF4-FFF2-40B4-BE49-F238E27FC236}">
                <a16:creationId xmlns:a16="http://schemas.microsoft.com/office/drawing/2014/main" id="{865569AF-851C-476E-B2E3-8B5AB5104BA0}"/>
              </a:ext>
            </a:extLst>
          </p:cNvPr>
          <p:cNvSpPr>
            <a:spLocks noGrp="1"/>
          </p:cNvSpPr>
          <p:nvPr/>
        </p:nvSpPr>
        <p:spPr>
          <a:xfrm>
            <a:off x="1886527" y="4562474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85" name="bev-anchor">
            <a:extLst>
              <a:ext uri="{FF2B5EF4-FFF2-40B4-BE49-F238E27FC236}">
                <a16:creationId xmlns:a16="http://schemas.microsoft.com/office/drawing/2014/main" id="{7B0F4547-F514-4532-9A5E-F8A86E8438C7}"/>
              </a:ext>
            </a:extLst>
          </p:cNvPr>
          <p:cNvSpPr>
            <a:spLocks noGrp="1"/>
          </p:cNvSpPr>
          <p:nvPr/>
        </p:nvSpPr>
        <p:spPr>
          <a:xfrm>
            <a:off x="2543175" y="2343150"/>
            <a:ext cx="152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86" name="proposal-anchor">
            <a:extLst>
              <a:ext uri="{FF2B5EF4-FFF2-40B4-BE49-F238E27FC236}">
                <a16:creationId xmlns:a16="http://schemas.microsoft.com/office/drawing/2014/main" id="{6BC55252-3E77-443B-B0D6-5BBFDAF80D5C}"/>
              </a:ext>
            </a:extLst>
          </p:cNvPr>
          <p:cNvSpPr>
            <a:spLocks noGrp="1"/>
          </p:cNvSpPr>
          <p:nvPr/>
        </p:nvSpPr>
        <p:spPr>
          <a:xfrm>
            <a:off x="5219700" y="2352675"/>
            <a:ext cx="133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87" name="high-anchor">
            <a:extLst>
              <a:ext uri="{FF2B5EF4-FFF2-40B4-BE49-F238E27FC236}">
                <a16:creationId xmlns:a16="http://schemas.microsoft.com/office/drawing/2014/main" id="{4854BE77-51F1-4AFA-AD17-8514886DAA13}"/>
              </a:ext>
            </a:extLst>
          </p:cNvPr>
          <p:cNvSpPr>
            <a:spLocks noGrp="1"/>
          </p:cNvSpPr>
          <p:nvPr/>
        </p:nvSpPr>
        <p:spPr>
          <a:xfrm>
            <a:off x="8331115" y="2459006"/>
            <a:ext cx="161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88" name="expert-anchor">
            <a:extLst>
              <a:ext uri="{FF2B5EF4-FFF2-40B4-BE49-F238E27FC236}">
                <a16:creationId xmlns:a16="http://schemas.microsoft.com/office/drawing/2014/main" id="{94BCE0D9-DC42-4130-AADB-9EA0538E4036}"/>
              </a:ext>
            </a:extLst>
          </p:cNvPr>
          <p:cNvSpPr>
            <a:spLocks noGrp="1"/>
          </p:cNvSpPr>
          <p:nvPr/>
        </p:nvSpPr>
        <p:spPr>
          <a:xfrm>
            <a:off x="5508908" y="4726505"/>
            <a:ext cx="165894" cy="185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89" name="strict-anchor">
            <a:extLst>
              <a:ext uri="{FF2B5EF4-FFF2-40B4-BE49-F238E27FC236}">
                <a16:creationId xmlns:a16="http://schemas.microsoft.com/office/drawing/2014/main" id="{AB03BA3B-1642-4101-B4F7-BBACE6BA26AA}"/>
              </a:ext>
            </a:extLst>
          </p:cNvPr>
          <p:cNvSpPr>
            <a:spLocks noGrp="1"/>
          </p:cNvSpPr>
          <p:nvPr/>
        </p:nvSpPr>
        <p:spPr>
          <a:xfrm>
            <a:off x="7394505" y="4752975"/>
            <a:ext cx="123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90" name="high-merge-anchor">
            <a:extLst>
              <a:ext uri="{FF2B5EF4-FFF2-40B4-BE49-F238E27FC236}">
                <a16:creationId xmlns:a16="http://schemas.microsoft.com/office/drawing/2014/main" id="{AA899591-7F36-4E25-8457-D60D21482B0D}"/>
              </a:ext>
            </a:extLst>
          </p:cNvPr>
          <p:cNvSpPr>
            <a:spLocks noGrp="1"/>
          </p:cNvSpPr>
          <p:nvPr/>
        </p:nvSpPr>
        <p:spPr>
          <a:xfrm>
            <a:off x="6934200" y="1438275"/>
            <a:ext cx="28575" cy="28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91" name="high-lower-anchor">
            <a:extLst>
              <a:ext uri="{FF2B5EF4-FFF2-40B4-BE49-F238E27FC236}">
                <a16:creationId xmlns:a16="http://schemas.microsoft.com/office/drawing/2014/main" id="{FD427B83-E8E5-4B97-9C9E-D30DE3B01273}"/>
              </a:ext>
            </a:extLst>
          </p:cNvPr>
          <p:cNvSpPr>
            <a:spLocks noGrp="1"/>
          </p:cNvSpPr>
          <p:nvPr/>
        </p:nvSpPr>
        <p:spPr>
          <a:xfrm>
            <a:off x="6934200" y="2505075"/>
            <a:ext cx="28575" cy="28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93" name="high-panel">
            <a:extLst>
              <a:ext uri="{FF2B5EF4-FFF2-40B4-BE49-F238E27FC236}">
                <a16:creationId xmlns:a16="http://schemas.microsoft.com/office/drawing/2014/main" id="{58548618-8F6B-4E18-8845-03737BD8872A}"/>
              </a:ext>
            </a:extLst>
          </p:cNvPr>
          <p:cNvSpPr>
            <a:spLocks noGrp="1"/>
          </p:cNvSpPr>
          <p:nvPr/>
        </p:nvSpPr>
        <p:spPr>
          <a:xfrm>
            <a:off x="5734050" y="457201"/>
            <a:ext cx="3391682" cy="1930018"/>
          </a:xfrm>
          <a:prstGeom prst="roundRect">
            <a:avLst>
              <a:gd name="adj" fmla="val 4831"/>
            </a:avLst>
          </a:prstGeom>
          <a:solidFill>
            <a:srgbClr val="EEF7EA"/>
          </a:solidFill>
          <a:ln w="11430">
            <a:solidFill>
              <a:srgbClr val="5F8F54"/>
            </a:solidFill>
            <a:prstDash val="solid"/>
          </a:ln>
        </p:spPr>
        <p:txBody>
          <a:bodyPr lIns="133350" tIns="76200" rIns="133350" bIns="76200" anchor="t"/>
          <a:lstStyle/>
          <a:p>
            <a:pPr algn="l">
              <a:defRPr sz="1125" b="1">
                <a:solidFill>
                  <a:srgbClr val="5F8F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F8F54"/>
                </a:solidFill>
                <a:latin typeface="Arial"/>
                <a:ea typeface="Arial"/>
                <a:cs typeface="Arial"/>
              </a:rPr>
              <a:t>(b) High-Performance Route</a:t>
            </a:r>
          </a:p>
        </p:txBody>
      </p:sp>
      <p:sp>
        <p:nvSpPr>
          <p:cNvPr id="6894" name="strict-panel">
            <a:extLst>
              <a:ext uri="{FF2B5EF4-FFF2-40B4-BE49-F238E27FC236}">
                <a16:creationId xmlns:a16="http://schemas.microsoft.com/office/drawing/2014/main" id="{E0A142DC-20C2-4E1F-8712-8A3776EFCFB2}"/>
              </a:ext>
            </a:extLst>
          </p:cNvPr>
          <p:cNvSpPr>
            <a:spLocks noGrp="1"/>
          </p:cNvSpPr>
          <p:nvPr/>
        </p:nvSpPr>
        <p:spPr>
          <a:xfrm>
            <a:off x="5734049" y="2657044"/>
            <a:ext cx="3391683" cy="2067356"/>
          </a:xfrm>
          <a:prstGeom prst="roundRect">
            <a:avLst>
              <a:gd name="adj" fmla="val 4587"/>
            </a:avLst>
          </a:prstGeom>
          <a:solidFill>
            <a:srgbClr val="FFF1E8"/>
          </a:solidFill>
          <a:ln w="11430">
            <a:solidFill>
              <a:srgbClr val="B46D3C"/>
            </a:solidFill>
            <a:prstDash val="solid"/>
          </a:ln>
        </p:spPr>
        <p:txBody>
          <a:bodyPr lIns="133350" tIns="76200" rIns="133350" bIns="76200" anchor="t"/>
          <a:lstStyle/>
          <a:p>
            <a:pPr algn="l">
              <a:defRPr sz="1125" b="1">
                <a:solidFill>
                  <a:srgbClr val="B46D3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6D3C"/>
                </a:solidFill>
                <a:latin typeface="Arial"/>
                <a:ea typeface="Arial"/>
                <a:cs typeface="Arial"/>
              </a:rPr>
              <a:t>(c) Strict Route</a:t>
            </a:r>
          </a:p>
        </p:txBody>
      </p:sp>
      <p:sp>
        <p:nvSpPr>
          <p:cNvPr id="6913" name="pillar-vfe">
            <a:extLst>
              <a:ext uri="{FF2B5EF4-FFF2-40B4-BE49-F238E27FC236}">
                <a16:creationId xmlns:a16="http://schemas.microsoft.com/office/drawing/2014/main" id="{27B34B0B-3640-440D-A36F-055FF3A132A3}"/>
              </a:ext>
            </a:extLst>
          </p:cNvPr>
          <p:cNvSpPr>
            <a:spLocks noGrp="1"/>
          </p:cNvSpPr>
          <p:nvPr/>
        </p:nvSpPr>
        <p:spPr>
          <a:xfrm>
            <a:off x="1133475" y="1809750"/>
            <a:ext cx="1028700" cy="400050"/>
          </a:xfrm>
          <a:prstGeom prst="roundRect">
            <a:avLst>
              <a:gd name="adj" fmla="val 16667"/>
            </a:avLst>
          </a:prstGeom>
          <a:solidFill>
            <a:srgbClr val="F7F7F7"/>
          </a:solidFill>
          <a:ln w="10954">
            <a:solidFill>
              <a:srgbClr val="515862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343B"/>
                </a:solidFill>
                <a:latin typeface="Arial"/>
                <a:ea typeface="Arial"/>
                <a:cs typeface="Arial"/>
              </a:rPr>
              <a:t>PillarVFE</a:t>
            </a:r>
          </a:p>
        </p:txBody>
      </p:sp>
      <p:sp>
        <p:nvSpPr>
          <p:cNvPr id="6914" name="bev-backbone">
            <a:extLst>
              <a:ext uri="{FF2B5EF4-FFF2-40B4-BE49-F238E27FC236}">
                <a16:creationId xmlns:a16="http://schemas.microsoft.com/office/drawing/2014/main" id="{6C5A622E-015E-409A-96E2-DB726760A398}"/>
              </a:ext>
            </a:extLst>
          </p:cNvPr>
          <p:cNvSpPr>
            <a:spLocks noGrp="1"/>
          </p:cNvSpPr>
          <p:nvPr/>
        </p:nvSpPr>
        <p:spPr>
          <a:xfrm>
            <a:off x="1133475" y="2324100"/>
            <a:ext cx="1028700" cy="400050"/>
          </a:xfrm>
          <a:prstGeom prst="roundRect">
            <a:avLst>
              <a:gd name="adj" fmla="val 16667"/>
            </a:avLst>
          </a:prstGeom>
          <a:solidFill>
            <a:srgbClr val="F7F7F7"/>
          </a:solidFill>
          <a:ln w="10954">
            <a:solidFill>
              <a:srgbClr val="515862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343B"/>
                </a:solidFill>
                <a:latin typeface="Arial"/>
                <a:ea typeface="Arial"/>
                <a:cs typeface="Arial"/>
              </a:rPr>
              <a:t>BEV Backbone</a:t>
            </a:r>
          </a:p>
        </p:txBody>
      </p:sp>
      <p:sp>
        <p:nvSpPr>
          <p:cNvPr id="6915" name="anchor-head">
            <a:extLst>
              <a:ext uri="{FF2B5EF4-FFF2-40B4-BE49-F238E27FC236}">
                <a16:creationId xmlns:a16="http://schemas.microsoft.com/office/drawing/2014/main" id="{0E8DFF55-A76B-470C-A7D1-8C75972E7626}"/>
              </a:ext>
            </a:extLst>
          </p:cNvPr>
          <p:cNvSpPr>
            <a:spLocks noGrp="1"/>
          </p:cNvSpPr>
          <p:nvPr/>
        </p:nvSpPr>
        <p:spPr>
          <a:xfrm>
            <a:off x="1133475" y="2838450"/>
            <a:ext cx="1028700" cy="400050"/>
          </a:xfrm>
          <a:prstGeom prst="roundRect">
            <a:avLst>
              <a:gd name="adj" fmla="val 16667"/>
            </a:avLst>
          </a:prstGeom>
          <a:solidFill>
            <a:srgbClr val="F7F7F7"/>
          </a:solidFill>
          <a:ln w="10954">
            <a:solidFill>
              <a:srgbClr val="515862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343B"/>
                </a:solidFill>
                <a:latin typeface="Arial"/>
                <a:ea typeface="Arial"/>
                <a:cs typeface="Arial"/>
              </a:rPr>
              <a:t>Anchor Head</a:t>
            </a:r>
          </a:p>
        </p:txBody>
      </p:sp>
      <p:sp>
        <p:nvSpPr>
          <p:cNvPr id="6916" name="pointpillars-frame">
            <a:extLst>
              <a:ext uri="{FF2B5EF4-FFF2-40B4-BE49-F238E27FC236}">
                <a16:creationId xmlns:a16="http://schemas.microsoft.com/office/drawing/2014/main" id="{311C737E-509E-4753-8FAD-BA65A62603D2}"/>
              </a:ext>
            </a:extLst>
          </p:cNvPr>
          <p:cNvSpPr>
            <a:spLocks noGrp="1"/>
          </p:cNvSpPr>
          <p:nvPr/>
        </p:nvSpPr>
        <p:spPr>
          <a:xfrm>
            <a:off x="1009650" y="1466850"/>
            <a:ext cx="1285875" cy="1952625"/>
          </a:xfrm>
          <a:prstGeom prst="roundRect">
            <a:avLst>
              <a:gd name="adj" fmla="val 5926"/>
            </a:avLst>
          </a:prstGeom>
          <a:noFill/>
          <a:ln w="9525">
            <a:solidFill>
              <a:srgbClr val="7A838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17" name="pointpillars-title">
            <a:extLst>
              <a:ext uri="{FF2B5EF4-FFF2-40B4-BE49-F238E27FC236}">
                <a16:creationId xmlns:a16="http://schemas.microsoft.com/office/drawing/2014/main" id="{B00AEB95-00DE-436C-A7FD-5A5FDE8D2439}"/>
              </a:ext>
            </a:extLst>
          </p:cNvPr>
          <p:cNvSpPr>
            <a:spLocks noGrp="1"/>
          </p:cNvSpPr>
          <p:nvPr/>
        </p:nvSpPr>
        <p:spPr>
          <a:xfrm>
            <a:off x="1057275" y="1495425"/>
            <a:ext cx="1190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38" b="1">
                <a:solidFill>
                  <a:srgbClr val="39424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39424C"/>
                </a:solidFill>
                <a:latin typeface="Arial"/>
                <a:ea typeface="Arial"/>
                <a:cs typeface="Arial"/>
              </a:rPr>
              <a:t>PointPillars Detector</a:t>
            </a:r>
          </a:p>
        </p:txBody>
      </p:sp>
      <p:sp>
        <p:nvSpPr>
          <p:cNvPr id="6920" name="iou-target">
            <a:extLst>
              <a:ext uri="{FF2B5EF4-FFF2-40B4-BE49-F238E27FC236}">
                <a16:creationId xmlns:a16="http://schemas.microsoft.com/office/drawing/2014/main" id="{CD0FB635-6997-4E30-BF31-078654FC9979}"/>
              </a:ext>
            </a:extLst>
          </p:cNvPr>
          <p:cNvSpPr>
            <a:spLocks noGrp="1"/>
          </p:cNvSpPr>
          <p:nvPr/>
        </p:nvSpPr>
        <p:spPr>
          <a:xfrm>
            <a:off x="5943600" y="942975"/>
            <a:ext cx="876300" cy="438150"/>
          </a:xfrm>
          <a:prstGeom prst="roundRect">
            <a:avLst>
              <a:gd name="adj" fmla="val 15217"/>
            </a:avLst>
          </a:prstGeom>
          <a:solidFill>
            <a:srgbClr val="FFF2CC"/>
          </a:solidFill>
          <a:ln w="10954">
            <a:solidFill>
              <a:srgbClr val="515862"/>
            </a:solidFill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F343B"/>
                </a:solidFill>
                <a:latin typeface="Arial"/>
                <a:ea typeface="Arial"/>
                <a:cs typeface="Arial"/>
              </a:rPr>
              <a:t>Online 3D-IoU</a:t>
            </a:r>
          </a:p>
          <a:p>
            <a:pPr algn="ctr">
              <a:defRPr sz="863" b="0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F343B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6921" name="relaxed-assignment">
            <a:extLst>
              <a:ext uri="{FF2B5EF4-FFF2-40B4-BE49-F238E27FC236}">
                <a16:creationId xmlns:a16="http://schemas.microsoft.com/office/drawing/2014/main" id="{455507F3-9E80-45AE-98D0-5B406D4FB837}"/>
              </a:ext>
            </a:extLst>
          </p:cNvPr>
          <p:cNvSpPr>
            <a:spLocks noGrp="1"/>
          </p:cNvSpPr>
          <p:nvPr/>
        </p:nvSpPr>
        <p:spPr>
          <a:xfrm>
            <a:off x="5943600" y="1543050"/>
            <a:ext cx="876300" cy="438150"/>
          </a:xfrm>
          <a:prstGeom prst="roundRect">
            <a:avLst>
              <a:gd name="adj" fmla="val 15217"/>
            </a:avLst>
          </a:prstGeom>
          <a:solidFill>
            <a:srgbClr val="FFF2CC"/>
          </a:solidFill>
          <a:ln w="10954">
            <a:solidFill>
              <a:srgbClr val="515862"/>
            </a:solidFill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F343B"/>
                </a:solidFill>
                <a:latin typeface="Arial"/>
                <a:ea typeface="Arial"/>
                <a:cs typeface="Arial"/>
              </a:rPr>
              <a:t>Relaxed Positive</a:t>
            </a:r>
          </a:p>
          <a:p>
            <a:pPr algn="ctr">
              <a:defRPr sz="863" b="0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F343B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6922" name="m3">
            <a:extLst>
              <a:ext uri="{FF2B5EF4-FFF2-40B4-BE49-F238E27FC236}">
                <a16:creationId xmlns:a16="http://schemas.microsoft.com/office/drawing/2014/main" id="{FCB973B2-4175-49FF-A792-6DB1E168AC9D}"/>
              </a:ext>
            </a:extLst>
          </p:cNvPr>
          <p:cNvSpPr>
            <a:spLocks noGrp="1"/>
          </p:cNvSpPr>
          <p:nvPr/>
        </p:nvSpPr>
        <p:spPr>
          <a:xfrm>
            <a:off x="7067550" y="1038225"/>
            <a:ext cx="1028700" cy="828675"/>
          </a:xfrm>
          <a:prstGeom prst="roundRect">
            <a:avLst>
              <a:gd name="adj" fmla="val 8046"/>
            </a:avLst>
          </a:prstGeom>
          <a:solidFill>
            <a:srgbClr val="DCEFD6"/>
          </a:solidFill>
          <a:ln w="10954">
            <a:solidFill>
              <a:srgbClr val="515862"/>
            </a:solidFill>
            <a:prstDash val="solid"/>
          </a:ln>
        </p:spPr>
        <p:txBody>
          <a:bodyPr anchor="ctr"/>
          <a:lstStyle/>
          <a:p>
            <a:pPr algn="ctr">
              <a:defRPr sz="938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343B"/>
                </a:solidFill>
                <a:latin typeface="Arial"/>
                <a:ea typeface="Arial"/>
                <a:cs typeface="Arial"/>
              </a:rPr>
              <a:t>M3</a:t>
            </a:r>
          </a:p>
          <a:p>
            <a:pPr algn="ctr">
              <a:defRPr sz="938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343B"/>
                </a:solidFill>
                <a:latin typeface="Arial"/>
                <a:ea typeface="Arial"/>
                <a:cs typeface="Arial"/>
              </a:rPr>
              <a:t>Quality-Aligned</a:t>
            </a:r>
          </a:p>
          <a:p>
            <a:pPr algn="ctr">
              <a:defRPr sz="938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F343B"/>
                </a:solidFill>
                <a:latin typeface="Arial"/>
                <a:ea typeface="Arial"/>
                <a:cs typeface="Arial"/>
              </a:rPr>
              <a:t>Confidence Head</a:t>
            </a:r>
          </a:p>
        </p:txBody>
      </p:sp>
      <p:sp>
        <p:nvSpPr>
          <p:cNvPr id="6923" name="expert-gate">
            <a:extLst>
              <a:ext uri="{FF2B5EF4-FFF2-40B4-BE49-F238E27FC236}">
                <a16:creationId xmlns:a16="http://schemas.microsoft.com/office/drawing/2014/main" id="{56E8B6F1-E404-4C91-A378-717EF74D5A1D}"/>
              </a:ext>
            </a:extLst>
          </p:cNvPr>
          <p:cNvSpPr>
            <a:spLocks noGrp="1"/>
          </p:cNvSpPr>
          <p:nvPr/>
        </p:nvSpPr>
        <p:spPr>
          <a:xfrm>
            <a:off x="6441213" y="3321482"/>
            <a:ext cx="874714" cy="391981"/>
          </a:xfrm>
          <a:prstGeom prst="roundRect">
            <a:avLst>
              <a:gd name="adj" fmla="val 11290"/>
            </a:avLst>
          </a:prstGeom>
          <a:solidFill>
            <a:srgbClr val="F8D8C4"/>
          </a:solidFill>
          <a:ln w="10954">
            <a:solidFill>
              <a:srgbClr val="515862"/>
            </a:solidFill>
            <a:prstDash val="solid"/>
          </a:ln>
        </p:spPr>
        <p:txBody>
          <a:bodyPr anchor="ctr"/>
          <a:lstStyle/>
          <a:p>
            <a:pPr algn="ctr">
              <a:defRPr sz="863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863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Expert-Consistency</a:t>
            </a:r>
          </a:p>
          <a:p>
            <a:pPr algn="ctr">
              <a:defRPr sz="863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863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6924" name="local-vote">
            <a:extLst>
              <a:ext uri="{FF2B5EF4-FFF2-40B4-BE49-F238E27FC236}">
                <a16:creationId xmlns:a16="http://schemas.microsoft.com/office/drawing/2014/main" id="{A6ACAF68-EF45-4361-94DD-C25D6E90BE1D}"/>
              </a:ext>
            </a:extLst>
          </p:cNvPr>
          <p:cNvSpPr>
            <a:spLocks noGrp="1"/>
          </p:cNvSpPr>
          <p:nvPr/>
        </p:nvSpPr>
        <p:spPr>
          <a:xfrm>
            <a:off x="7576842" y="3306196"/>
            <a:ext cx="842963" cy="400051"/>
          </a:xfrm>
          <a:prstGeom prst="roundRect">
            <a:avLst>
              <a:gd name="adj" fmla="val 11290"/>
            </a:avLst>
          </a:prstGeom>
          <a:solidFill>
            <a:srgbClr val="F8D8C4"/>
          </a:solidFill>
          <a:ln w="10954">
            <a:solidFill>
              <a:srgbClr val="515862"/>
            </a:solidFill>
            <a:prstDash val="solid"/>
          </a:ln>
        </p:spPr>
        <p:txBody>
          <a:bodyPr anchor="ctr"/>
          <a:lstStyle/>
          <a:p>
            <a:pPr algn="ctr">
              <a:defRPr sz="863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343B"/>
                </a:solidFill>
                <a:latin typeface="Arial"/>
                <a:ea typeface="Arial"/>
                <a:cs typeface="Arial"/>
              </a:rPr>
              <a:t>Local Proposal</a:t>
            </a:r>
          </a:p>
          <a:p>
            <a:pPr algn="ctr">
              <a:defRPr sz="863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343B"/>
                </a:solidFill>
                <a:latin typeface="Arial"/>
                <a:ea typeface="Arial"/>
                <a:cs typeface="Arial"/>
              </a:rPr>
              <a:t>Voting</a:t>
            </a:r>
          </a:p>
        </p:txBody>
      </p:sp>
      <p:sp>
        <p:nvSpPr>
          <p:cNvPr id="6925" name="radar-label">
            <a:extLst>
              <a:ext uri="{FF2B5EF4-FFF2-40B4-BE49-F238E27FC236}">
                <a16:creationId xmlns:a16="http://schemas.microsoft.com/office/drawing/2014/main" id="{5271CC0C-94EA-43AE-B436-07E6B9F82ECC}"/>
              </a:ext>
            </a:extLst>
          </p:cNvPr>
          <p:cNvSpPr>
            <a:spLocks noGrp="1"/>
          </p:cNvSpPr>
          <p:nvPr/>
        </p:nvSpPr>
        <p:spPr>
          <a:xfrm>
            <a:off x="104775" y="2978981"/>
            <a:ext cx="781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Radar Point</a:t>
            </a:r>
          </a:p>
          <a:p>
            <a:pPr algn="ctr">
              <a:defRPr sz="975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Cloud</a:t>
            </a:r>
          </a:p>
        </p:txBody>
      </p:sp>
      <p:sp>
        <p:nvSpPr>
          <p:cNvPr id="6926" name="bev-label">
            <a:extLst>
              <a:ext uri="{FF2B5EF4-FFF2-40B4-BE49-F238E27FC236}">
                <a16:creationId xmlns:a16="http://schemas.microsoft.com/office/drawing/2014/main" id="{556C9EEA-9365-4091-AA8C-3348651538AD}"/>
              </a:ext>
            </a:extLst>
          </p:cNvPr>
          <p:cNvSpPr>
            <a:spLocks noGrp="1"/>
          </p:cNvSpPr>
          <p:nvPr/>
        </p:nvSpPr>
        <p:spPr>
          <a:xfrm>
            <a:off x="2542562" y="3043237"/>
            <a:ext cx="781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BEV Features</a:t>
            </a:r>
          </a:p>
        </p:txBody>
      </p:sp>
      <p:sp>
        <p:nvSpPr>
          <p:cNvPr id="6927" name="rdar-label">
            <a:extLst>
              <a:ext uri="{FF2B5EF4-FFF2-40B4-BE49-F238E27FC236}">
                <a16:creationId xmlns:a16="http://schemas.microsoft.com/office/drawing/2014/main" id="{08323003-460A-4820-89B9-C1EF3D7A0324}"/>
              </a:ext>
            </a:extLst>
          </p:cNvPr>
          <p:cNvSpPr>
            <a:spLocks noGrp="1"/>
          </p:cNvSpPr>
          <p:nvPr/>
        </p:nvSpPr>
        <p:spPr>
          <a:xfrm>
            <a:off x="4595019" y="2963861"/>
            <a:ext cx="8382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863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RDAR</a:t>
            </a:r>
          </a:p>
          <a:p>
            <a:pPr algn="ctr">
              <a:defRPr sz="863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sz="863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Proposals</a:t>
            </a:r>
          </a:p>
        </p:txBody>
      </p:sp>
      <p:sp>
        <p:nvSpPr>
          <p:cNvPr id="6928" name="high-output-label">
            <a:extLst>
              <a:ext uri="{FF2B5EF4-FFF2-40B4-BE49-F238E27FC236}">
                <a16:creationId xmlns:a16="http://schemas.microsoft.com/office/drawing/2014/main" id="{03D06511-EC04-4E8F-A35E-392258FDE7E9}"/>
              </a:ext>
            </a:extLst>
          </p:cNvPr>
          <p:cNvSpPr>
            <a:spLocks noGrp="1"/>
          </p:cNvSpPr>
          <p:nvPr/>
        </p:nvSpPr>
        <p:spPr>
          <a:xfrm>
            <a:off x="8314747" y="18097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1">
                <a:solidFill>
                  <a:srgbClr val="416A38"/>
                </a:solidFill>
                <a:latin typeface="Arial"/>
                <a:ea typeface="Arial"/>
                <a:cs typeface="Arial"/>
              </a:defRPr>
            </a:pPr>
            <a:r>
              <a:rPr sz="713" b="1" dirty="0">
                <a:solidFill>
                  <a:srgbClr val="416A38"/>
                </a:solidFill>
                <a:latin typeface="Arial"/>
                <a:ea typeface="Arial"/>
                <a:cs typeface="Arial"/>
              </a:rPr>
              <a:t>High-Performance</a:t>
            </a:r>
          </a:p>
          <a:p>
            <a:pPr algn="ctr">
              <a:defRPr sz="713" b="1">
                <a:solidFill>
                  <a:srgbClr val="416A38"/>
                </a:solidFill>
                <a:latin typeface="Arial"/>
                <a:ea typeface="Arial"/>
                <a:cs typeface="Arial"/>
              </a:defRPr>
            </a:pPr>
            <a:r>
              <a:rPr sz="713" b="1" dirty="0">
                <a:solidFill>
                  <a:srgbClr val="416A38"/>
                </a:solidFill>
                <a:latin typeface="Arial"/>
                <a:ea typeface="Arial"/>
                <a:cs typeface="Arial"/>
              </a:rPr>
              <a:t>Detections</a:t>
            </a:r>
          </a:p>
        </p:txBody>
      </p:sp>
      <p:sp>
        <p:nvSpPr>
          <p:cNvPr id="6929" name="expert-label">
            <a:extLst>
              <a:ext uri="{FF2B5EF4-FFF2-40B4-BE49-F238E27FC236}">
                <a16:creationId xmlns:a16="http://schemas.microsoft.com/office/drawing/2014/main" id="{6D6AF278-5E48-40F2-99BE-1B22517F0772}"/>
              </a:ext>
            </a:extLst>
          </p:cNvPr>
          <p:cNvSpPr>
            <a:spLocks noGrp="1"/>
          </p:cNvSpPr>
          <p:nvPr/>
        </p:nvSpPr>
        <p:spPr>
          <a:xfrm>
            <a:off x="5646428" y="3844107"/>
            <a:ext cx="8667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66577A"/>
                </a:solidFill>
                <a:latin typeface="Arial"/>
                <a:ea typeface="Arial"/>
                <a:cs typeface="Arial"/>
              </a:defRPr>
            </a:pPr>
            <a:r>
              <a:rPr sz="788" b="1" dirty="0">
                <a:solidFill>
                  <a:srgbClr val="66577A"/>
                </a:solidFill>
                <a:latin typeface="Arial"/>
                <a:ea typeface="Arial"/>
                <a:cs typeface="Arial"/>
              </a:rPr>
              <a:t>Independent Expert</a:t>
            </a:r>
          </a:p>
        </p:txBody>
      </p:sp>
      <p:sp>
        <p:nvSpPr>
          <p:cNvPr id="6930" name="strict-output-label">
            <a:extLst>
              <a:ext uri="{FF2B5EF4-FFF2-40B4-BE49-F238E27FC236}">
                <a16:creationId xmlns:a16="http://schemas.microsoft.com/office/drawing/2014/main" id="{ADE4C394-E438-46D2-9D52-E41A24321906}"/>
              </a:ext>
            </a:extLst>
          </p:cNvPr>
          <p:cNvSpPr>
            <a:spLocks noGrp="1"/>
          </p:cNvSpPr>
          <p:nvPr/>
        </p:nvSpPr>
        <p:spPr>
          <a:xfrm>
            <a:off x="8381422" y="3795162"/>
            <a:ext cx="895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8D4D25"/>
                </a:solidFill>
                <a:latin typeface="Arial"/>
                <a:ea typeface="Arial"/>
                <a:cs typeface="Arial"/>
              </a:defRPr>
            </a:pPr>
            <a:r>
              <a:rPr sz="788" b="1" dirty="0">
                <a:solidFill>
                  <a:srgbClr val="8D4D25"/>
                </a:solidFill>
                <a:latin typeface="Arial"/>
                <a:ea typeface="Arial"/>
                <a:cs typeface="Arial"/>
              </a:rPr>
              <a:t>Strict Detections</a:t>
            </a:r>
          </a:p>
        </p:txBody>
      </p:sp>
      <p:sp>
        <p:nvSpPr>
          <p:cNvPr id="6931" name="gate-formula">
            <a:extLst>
              <a:ext uri="{FF2B5EF4-FFF2-40B4-BE49-F238E27FC236}">
                <a16:creationId xmlns:a16="http://schemas.microsoft.com/office/drawing/2014/main" id="{32CA9C2E-8FF8-4A7C-9F4B-825BD2577499}"/>
              </a:ext>
            </a:extLst>
          </p:cNvPr>
          <p:cNvSpPr>
            <a:spLocks noGrp="1"/>
          </p:cNvSpPr>
          <p:nvPr/>
        </p:nvSpPr>
        <p:spPr>
          <a:xfrm>
            <a:off x="6297374" y="3766282"/>
            <a:ext cx="12668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0">
                <a:solidFill>
                  <a:srgbClr val="5F6873"/>
                </a:solidFill>
                <a:latin typeface="Arial"/>
                <a:ea typeface="Arial"/>
                <a:cs typeface="Arial"/>
              </a:defRPr>
            </a:pPr>
            <a:r>
              <a:rPr sz="638" b="0" dirty="0">
                <a:solidFill>
                  <a:srgbClr val="5F6873"/>
                </a:solidFill>
                <a:latin typeface="Arial"/>
                <a:ea typeface="Arial"/>
                <a:cs typeface="Arial"/>
              </a:rPr>
              <a:t>3D-IoU matching · score re-ranking</a:t>
            </a:r>
          </a:p>
        </p:txBody>
      </p:sp>
      <p:sp>
        <p:nvSpPr>
          <p:cNvPr id="6932" name="vote-formula">
            <a:extLst>
              <a:ext uri="{FF2B5EF4-FFF2-40B4-BE49-F238E27FC236}">
                <a16:creationId xmlns:a16="http://schemas.microsoft.com/office/drawing/2014/main" id="{2B7E658A-E438-480F-B56F-C8F99A8ED8B7}"/>
              </a:ext>
            </a:extLst>
          </p:cNvPr>
          <p:cNvSpPr>
            <a:spLocks noGrp="1"/>
          </p:cNvSpPr>
          <p:nvPr/>
        </p:nvSpPr>
        <p:spPr>
          <a:xfrm>
            <a:off x="7490691" y="3748846"/>
            <a:ext cx="1019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0">
                <a:solidFill>
                  <a:srgbClr val="5F6873"/>
                </a:solidFill>
                <a:latin typeface="Arial"/>
                <a:ea typeface="Arial"/>
                <a:cs typeface="Arial"/>
              </a:defRPr>
            </a:pPr>
            <a:r>
              <a:rPr sz="638" b="0" dirty="0">
                <a:solidFill>
                  <a:srgbClr val="5F6873"/>
                </a:solidFill>
                <a:latin typeface="Arial"/>
                <a:ea typeface="Arial"/>
                <a:cs typeface="Arial"/>
              </a:rPr>
              <a:t>BEV center + heading update</a:t>
            </a:r>
          </a:p>
        </p:txBody>
      </p:sp>
      <p:sp>
        <p:nvSpPr>
          <p:cNvPr id="6933" name="division-note">
            <a:extLst>
              <a:ext uri="{FF2B5EF4-FFF2-40B4-BE49-F238E27FC236}">
                <a16:creationId xmlns:a16="http://schemas.microsoft.com/office/drawing/2014/main" id="{9E9F1F39-B2BD-467C-BB63-B32C63B505AD}"/>
              </a:ext>
            </a:extLst>
          </p:cNvPr>
          <p:cNvSpPr>
            <a:spLocks noGrp="1"/>
          </p:cNvSpPr>
          <p:nvPr/>
        </p:nvSpPr>
        <p:spPr>
          <a:xfrm>
            <a:off x="1166516" y="3750650"/>
            <a:ext cx="5673351" cy="3358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5F6873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F6873"/>
                </a:solidFill>
                <a:latin typeface="Arial"/>
                <a:ea typeface="Arial"/>
                <a:cs typeface="Arial"/>
              </a:rPr>
              <a:t>M1 preserves primary candidates;</a:t>
            </a:r>
            <a:endParaRPr lang="en-US" sz="1200" b="0" dirty="0">
              <a:solidFill>
                <a:srgbClr val="5F6873"/>
              </a:solidFill>
              <a:latin typeface="Arial"/>
              <a:ea typeface="Arial"/>
              <a:cs typeface="Arial"/>
            </a:endParaRPr>
          </a:p>
          <a:p>
            <a:pPr algn="ctr">
              <a:defRPr sz="863" b="0">
                <a:solidFill>
                  <a:srgbClr val="5F6873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F6873"/>
                </a:solidFill>
                <a:latin typeface="Arial"/>
                <a:ea typeface="Arial"/>
                <a:cs typeface="Arial"/>
              </a:rPr>
              <a:t> M2 adds complementary residual proposals.</a:t>
            </a:r>
          </a:p>
        </p:txBody>
      </p:sp>
      <p:cxnSp>
        <p:nvCxnSpPr>
          <p:cNvPr id="7008" name="直接箭头连接符 7007"/>
          <p:cNvCxnSpPr>
            <a:stCxn id="6913" idx="2"/>
            <a:endCxn id="6914" idx="0"/>
          </p:cNvCxnSpPr>
          <p:nvPr/>
        </p:nvCxnSpPr>
        <p:spPr>
          <a:xfrm>
            <a:off x="1647825" y="2209800"/>
            <a:ext cx="0" cy="114300"/>
          </a:xfrm>
          <a:prstGeom prst="straightConnector1">
            <a:avLst/>
          </a:prstGeom>
          <a:ln w="11430">
            <a:solidFill>
              <a:srgbClr val="7C858F"/>
            </a:solidFill>
            <a:prstDash val="solid"/>
            <a:tailEnd type="triangle" w="sm" len="sm"/>
          </a:ln>
        </p:spPr>
      </p:cxnSp>
      <p:cxnSp>
        <p:nvCxnSpPr>
          <p:cNvPr id="7009" name="直接箭头连接符 7008"/>
          <p:cNvCxnSpPr>
            <a:stCxn id="6914" idx="2"/>
            <a:endCxn id="6915" idx="0"/>
          </p:cNvCxnSpPr>
          <p:nvPr/>
        </p:nvCxnSpPr>
        <p:spPr>
          <a:xfrm>
            <a:off x="1647825" y="2724150"/>
            <a:ext cx="0" cy="114300"/>
          </a:xfrm>
          <a:prstGeom prst="straightConnector1">
            <a:avLst/>
          </a:prstGeom>
          <a:ln w="11430">
            <a:solidFill>
              <a:srgbClr val="7C858F"/>
            </a:solidFill>
            <a:prstDash val="solid"/>
            <a:tailEnd type="triangle" w="sm" len="sm"/>
          </a:ln>
        </p:spPr>
      </p:cxnSp>
      <p:cxnSp>
        <p:nvCxnSpPr>
          <p:cNvPr id="7017" name="直接箭头连接符 7016"/>
          <p:cNvCxnSpPr>
            <a:stCxn id="6920" idx="3"/>
            <a:endCxn id="6922" idx="1"/>
          </p:cNvCxnSpPr>
          <p:nvPr/>
        </p:nvCxnSpPr>
        <p:spPr>
          <a:xfrm>
            <a:off x="6819900" y="1162050"/>
            <a:ext cx="247650" cy="290513"/>
          </a:xfrm>
          <a:prstGeom prst="straightConnector1">
            <a:avLst/>
          </a:prstGeom>
          <a:ln w="13335">
            <a:solidFill>
              <a:srgbClr val="7A6B8C"/>
            </a:solidFill>
            <a:prstDash val="dash"/>
            <a:tailEnd type="triangle" w="sm" len="sm"/>
          </a:ln>
        </p:spPr>
      </p:cxnSp>
      <p:cxnSp>
        <p:nvCxnSpPr>
          <p:cNvPr id="7018" name="直接箭头连接符 7017"/>
          <p:cNvCxnSpPr>
            <a:cxnSpLocks/>
            <a:stCxn id="6921" idx="3"/>
            <a:endCxn id="6922" idx="1"/>
          </p:cNvCxnSpPr>
          <p:nvPr/>
        </p:nvCxnSpPr>
        <p:spPr>
          <a:xfrm flipV="1">
            <a:off x="6819900" y="1452563"/>
            <a:ext cx="247650" cy="309563"/>
          </a:xfrm>
          <a:prstGeom prst="straightConnector1">
            <a:avLst/>
          </a:prstGeom>
          <a:ln w="13335">
            <a:solidFill>
              <a:srgbClr val="7A6B8C"/>
            </a:solidFill>
            <a:prstDash val="dash"/>
            <a:tailEnd type="triangle" w="sm" len="sm"/>
          </a:ln>
        </p:spPr>
      </p:cxnSp>
      <p:sp>
        <p:nvSpPr>
          <p:cNvPr id="18" name="Google Shape;6853;p71">
            <a:extLst>
              <a:ext uri="{FF2B5EF4-FFF2-40B4-BE49-F238E27FC236}">
                <a16:creationId xmlns:a16="http://schemas.microsoft.com/office/drawing/2014/main" id="{1342C2BF-3C9C-D306-46C0-E622D78448E3}"/>
              </a:ext>
            </a:extLst>
          </p:cNvPr>
          <p:cNvSpPr>
            <a:spLocks noGrp="1"/>
          </p:cNvSpPr>
          <p:nvPr/>
        </p:nvSpPr>
        <p:spPr>
          <a:xfrm>
            <a:off x="3458584" y="1947862"/>
            <a:ext cx="466725" cy="990600"/>
          </a:xfrm>
          <a:prstGeom prst="cube">
            <a:avLst>
              <a:gd name="adj" fmla="val 56788"/>
            </a:avLst>
          </a:prstGeom>
          <a:solidFill>
            <a:srgbClr val="BFD7EA"/>
          </a:solidFill>
          <a:ln w="10478">
            <a:solidFill>
              <a:srgbClr val="5158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6853;p71">
            <a:extLst>
              <a:ext uri="{FF2B5EF4-FFF2-40B4-BE49-F238E27FC236}">
                <a16:creationId xmlns:a16="http://schemas.microsoft.com/office/drawing/2014/main" id="{0E1AEF12-CD10-38E1-199B-B7AB26D31A07}"/>
              </a:ext>
            </a:extLst>
          </p:cNvPr>
          <p:cNvSpPr>
            <a:spLocks noGrp="1"/>
          </p:cNvSpPr>
          <p:nvPr/>
        </p:nvSpPr>
        <p:spPr>
          <a:xfrm>
            <a:off x="4130205" y="1944110"/>
            <a:ext cx="466725" cy="990600"/>
          </a:xfrm>
          <a:prstGeom prst="cube">
            <a:avLst>
              <a:gd name="adj" fmla="val 56788"/>
            </a:avLst>
          </a:prstGeom>
          <a:solidFill>
            <a:srgbClr val="BFD7EA"/>
          </a:solidFill>
          <a:ln w="10478">
            <a:solidFill>
              <a:srgbClr val="5158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1C9ECDC-58E9-5009-4391-B466FB15EFCE}"/>
              </a:ext>
            </a:extLst>
          </p:cNvPr>
          <p:cNvSpPr txBox="1"/>
          <p:nvPr/>
        </p:nvSpPr>
        <p:spPr>
          <a:xfrm>
            <a:off x="3177309" y="2972086"/>
            <a:ext cx="929265" cy="669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938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M1</a:t>
            </a:r>
          </a:p>
          <a:p>
            <a:pPr algn="ctr">
              <a:defRPr sz="938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Candidate-Preserving NMS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AFF1A2A-E649-6F7C-A799-72487AF29948}"/>
              </a:ext>
            </a:extLst>
          </p:cNvPr>
          <p:cNvSpPr txBox="1"/>
          <p:nvPr/>
        </p:nvSpPr>
        <p:spPr>
          <a:xfrm>
            <a:off x="3718935" y="2979288"/>
            <a:ext cx="1187161" cy="669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938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M2</a:t>
            </a:r>
          </a:p>
          <a:p>
            <a:pPr algn="ctr">
              <a:defRPr sz="938" b="1">
                <a:solidFill>
                  <a:srgbClr val="2F343B"/>
                </a:solidFill>
                <a:latin typeface="Arial"/>
                <a:ea typeface="Arial"/>
                <a:cs typeface="Arial"/>
              </a:defRPr>
            </a:pPr>
            <a:r>
              <a:rPr lang="en-US" altLang="zh-CN" b="1" dirty="0">
                <a:solidFill>
                  <a:srgbClr val="2F343B"/>
                </a:solidFill>
                <a:latin typeface="Arial"/>
                <a:ea typeface="Arial"/>
                <a:cs typeface="Arial"/>
              </a:rPr>
              <a:t>Residual Proposal Recovery</a:t>
            </a:r>
          </a:p>
        </p:txBody>
      </p:sp>
      <p:sp>
        <p:nvSpPr>
          <p:cNvPr id="27" name="Google Shape;6882;p71">
            <a:extLst>
              <a:ext uri="{FF2B5EF4-FFF2-40B4-BE49-F238E27FC236}">
                <a16:creationId xmlns:a16="http://schemas.microsoft.com/office/drawing/2014/main" id="{560708D6-1FC3-7883-CE90-6AA2FD3D8ED4}"/>
              </a:ext>
            </a:extLst>
          </p:cNvPr>
          <p:cNvSpPr>
            <a:spLocks noGrp="1"/>
          </p:cNvSpPr>
          <p:nvPr/>
        </p:nvSpPr>
        <p:spPr>
          <a:xfrm>
            <a:off x="257175" y="1935162"/>
            <a:ext cx="409575" cy="952500"/>
          </a:xfrm>
          <a:prstGeom prst="cube">
            <a:avLst>
              <a:gd name="adj" fmla="val 77968"/>
            </a:avLst>
          </a:prstGeom>
          <a:solidFill>
            <a:srgbClr val="A8C4DF"/>
          </a:solidFill>
          <a:ln w="10478">
            <a:solidFill>
              <a:srgbClr val="5158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7FB1C071-7AAA-9EE0-2323-650573773B81}"/>
              </a:ext>
            </a:extLst>
          </p:cNvPr>
          <p:cNvSpPr/>
          <p:nvPr/>
        </p:nvSpPr>
        <p:spPr>
          <a:xfrm>
            <a:off x="535782" y="2350359"/>
            <a:ext cx="464343" cy="12571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4F731FDB-A75C-66D1-C477-F0AA539CB498}"/>
              </a:ext>
            </a:extLst>
          </p:cNvPr>
          <p:cNvSpPr/>
          <p:nvPr/>
        </p:nvSpPr>
        <p:spPr>
          <a:xfrm>
            <a:off x="2321518" y="2382970"/>
            <a:ext cx="435969" cy="136393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7F61572D-803B-8263-CC55-B263583D3005}"/>
              </a:ext>
            </a:extLst>
          </p:cNvPr>
          <p:cNvSpPr/>
          <p:nvPr/>
        </p:nvSpPr>
        <p:spPr>
          <a:xfrm>
            <a:off x="3088282" y="2371213"/>
            <a:ext cx="363414" cy="14815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C8A1E6CC-6579-DA0C-060A-CFD4A8FE12D6}"/>
              </a:ext>
            </a:extLst>
          </p:cNvPr>
          <p:cNvSpPr/>
          <p:nvPr/>
        </p:nvSpPr>
        <p:spPr>
          <a:xfrm>
            <a:off x="3777423" y="2387218"/>
            <a:ext cx="345894" cy="13214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6AD93FC1-17F8-C7B4-0CD9-9C2CD5B6E806}"/>
              </a:ext>
            </a:extLst>
          </p:cNvPr>
          <p:cNvSpPr/>
          <p:nvPr/>
        </p:nvSpPr>
        <p:spPr>
          <a:xfrm>
            <a:off x="4457471" y="2382970"/>
            <a:ext cx="439495" cy="15068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55F0B897-6539-D413-4D53-ACCFF3087DB5}"/>
              </a:ext>
            </a:extLst>
          </p:cNvPr>
          <p:cNvCxnSpPr>
            <a:cxnSpLocks/>
            <a:endCxn id="6922" idx="2"/>
          </p:cNvCxnSpPr>
          <p:nvPr/>
        </p:nvCxnSpPr>
        <p:spPr>
          <a:xfrm flipV="1">
            <a:off x="5162605" y="1866900"/>
            <a:ext cx="2419295" cy="599644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52" name="Google Shape;6852;p71">
            <a:extLst>
              <a:ext uri="{FF2B5EF4-FFF2-40B4-BE49-F238E27FC236}">
                <a16:creationId xmlns:a16="http://schemas.microsoft.com/office/drawing/2014/main" id="{29A0174D-4573-4300-8C7F-18DD431890D8}"/>
              </a:ext>
            </a:extLst>
          </p:cNvPr>
          <p:cNvSpPr>
            <a:spLocks noGrp="1"/>
          </p:cNvSpPr>
          <p:nvPr/>
        </p:nvSpPr>
        <p:spPr>
          <a:xfrm>
            <a:off x="5785767" y="3238500"/>
            <a:ext cx="497682" cy="556662"/>
          </a:xfrm>
          <a:prstGeom prst="cube">
            <a:avLst>
              <a:gd name="adj" fmla="val 53665"/>
            </a:avLst>
          </a:prstGeom>
          <a:solidFill>
            <a:srgbClr val="D9D2E9"/>
          </a:solidFill>
          <a:ln w="10478">
            <a:solidFill>
              <a:srgbClr val="5158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箭头: 右 61">
            <a:extLst>
              <a:ext uri="{FF2B5EF4-FFF2-40B4-BE49-F238E27FC236}">
                <a16:creationId xmlns:a16="http://schemas.microsoft.com/office/drawing/2014/main" id="{CF4FEBF1-2A2A-0BF3-AA54-FB6FEF7A6D38}"/>
              </a:ext>
            </a:extLst>
          </p:cNvPr>
          <p:cNvSpPr/>
          <p:nvPr/>
        </p:nvSpPr>
        <p:spPr>
          <a:xfrm>
            <a:off x="6183885" y="3464273"/>
            <a:ext cx="241091" cy="96345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63" name="箭头: 右 6862">
            <a:extLst>
              <a:ext uri="{FF2B5EF4-FFF2-40B4-BE49-F238E27FC236}">
                <a16:creationId xmlns:a16="http://schemas.microsoft.com/office/drawing/2014/main" id="{3EADF39D-F4FB-54D9-5AB4-EFCE48FB507B}"/>
              </a:ext>
            </a:extLst>
          </p:cNvPr>
          <p:cNvSpPr/>
          <p:nvPr/>
        </p:nvSpPr>
        <p:spPr>
          <a:xfrm>
            <a:off x="7332164" y="3458863"/>
            <a:ext cx="228441" cy="101755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83" name="Google Shape;6883;p71">
            <a:extLst>
              <a:ext uri="{FF2B5EF4-FFF2-40B4-BE49-F238E27FC236}">
                <a16:creationId xmlns:a16="http://schemas.microsoft.com/office/drawing/2014/main" id="{5CBD6D65-2838-4FA8-A370-CF6C0D33142E}"/>
              </a:ext>
            </a:extLst>
          </p:cNvPr>
          <p:cNvSpPr>
            <a:spLocks noGrp="1"/>
          </p:cNvSpPr>
          <p:nvPr/>
        </p:nvSpPr>
        <p:spPr>
          <a:xfrm>
            <a:off x="8675679" y="3259656"/>
            <a:ext cx="381000" cy="514350"/>
          </a:xfrm>
          <a:prstGeom prst="cube">
            <a:avLst>
              <a:gd name="adj" fmla="val 28246"/>
            </a:avLst>
          </a:prstGeom>
          <a:solidFill>
            <a:srgbClr val="F4B183"/>
          </a:solidFill>
          <a:ln w="10478">
            <a:solidFill>
              <a:srgbClr val="5158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6" name="箭头: 右 6865">
            <a:extLst>
              <a:ext uri="{FF2B5EF4-FFF2-40B4-BE49-F238E27FC236}">
                <a16:creationId xmlns:a16="http://schemas.microsoft.com/office/drawing/2014/main" id="{26025424-B5B1-6422-8C52-CE997E63EBC1}"/>
              </a:ext>
            </a:extLst>
          </p:cNvPr>
          <p:cNvSpPr/>
          <p:nvPr/>
        </p:nvSpPr>
        <p:spPr>
          <a:xfrm>
            <a:off x="8429625" y="3478893"/>
            <a:ext cx="228441" cy="101755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71" name="直接箭头连接符 6870">
            <a:extLst>
              <a:ext uri="{FF2B5EF4-FFF2-40B4-BE49-F238E27FC236}">
                <a16:creationId xmlns:a16="http://schemas.microsoft.com/office/drawing/2014/main" id="{B8B57696-EFB5-BC1B-A40F-589DC7C64408}"/>
              </a:ext>
            </a:extLst>
          </p:cNvPr>
          <p:cNvCxnSpPr>
            <a:cxnSpLocks/>
          </p:cNvCxnSpPr>
          <p:nvPr/>
        </p:nvCxnSpPr>
        <p:spPr>
          <a:xfrm>
            <a:off x="6962775" y="2491546"/>
            <a:ext cx="0" cy="829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4" name="直接连接符 6933">
            <a:extLst>
              <a:ext uri="{FF2B5EF4-FFF2-40B4-BE49-F238E27FC236}">
                <a16:creationId xmlns:a16="http://schemas.microsoft.com/office/drawing/2014/main" id="{363C66E2-C831-37B8-58C8-E928010F5F1D}"/>
              </a:ext>
            </a:extLst>
          </p:cNvPr>
          <p:cNvCxnSpPr>
            <a:cxnSpLocks/>
          </p:cNvCxnSpPr>
          <p:nvPr/>
        </p:nvCxnSpPr>
        <p:spPr>
          <a:xfrm flipH="1">
            <a:off x="5162605" y="2466544"/>
            <a:ext cx="18176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36" name="椭圆 6935">
            <a:extLst>
              <a:ext uri="{FF2B5EF4-FFF2-40B4-BE49-F238E27FC236}">
                <a16:creationId xmlns:a16="http://schemas.microsoft.com/office/drawing/2014/main" id="{43EB02D1-1C4E-FB3B-0F28-FEBB8D69F8EC}"/>
              </a:ext>
            </a:extLst>
          </p:cNvPr>
          <p:cNvSpPr/>
          <p:nvPr/>
        </p:nvSpPr>
        <p:spPr>
          <a:xfrm>
            <a:off x="6909501" y="2417085"/>
            <a:ext cx="106547" cy="107951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50" name="Google Shape;6850;p71">
            <a:extLst>
              <a:ext uri="{FF2B5EF4-FFF2-40B4-BE49-F238E27FC236}">
                <a16:creationId xmlns:a16="http://schemas.microsoft.com/office/drawing/2014/main" id="{14BF4369-B22F-4F54-A483-987B4D04CFC6}"/>
              </a:ext>
            </a:extLst>
          </p:cNvPr>
          <p:cNvSpPr>
            <a:spLocks noGrp="1"/>
          </p:cNvSpPr>
          <p:nvPr/>
        </p:nvSpPr>
        <p:spPr>
          <a:xfrm>
            <a:off x="8658066" y="1081755"/>
            <a:ext cx="377816" cy="630364"/>
          </a:xfrm>
          <a:prstGeom prst="cube">
            <a:avLst>
              <a:gd name="adj" fmla="val 77881"/>
            </a:avLst>
          </a:prstGeom>
          <a:solidFill>
            <a:srgbClr val="B7D7A8"/>
          </a:solidFill>
          <a:ln w="10478">
            <a:solidFill>
              <a:srgbClr val="51586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9" name="箭头: 右 6938">
            <a:extLst>
              <a:ext uri="{FF2B5EF4-FFF2-40B4-BE49-F238E27FC236}">
                <a16:creationId xmlns:a16="http://schemas.microsoft.com/office/drawing/2014/main" id="{D36EF8E0-669E-19DB-BFF1-B1710B18DEBC}"/>
              </a:ext>
            </a:extLst>
          </p:cNvPr>
          <p:cNvSpPr/>
          <p:nvPr/>
        </p:nvSpPr>
        <p:spPr>
          <a:xfrm>
            <a:off x="8134350" y="1362935"/>
            <a:ext cx="439495" cy="15068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4240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DocSecurity>0</DocSecurity>
  <PresentationFormat>全屏显示(16:9)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zixuan Liu</cp:lastModifiedBy>
  <cp:revision>1</cp:revision>
  <dcterms:created xsi:type="dcterms:W3CDTF">2026-08-03T22:20:32Z</dcterms:created>
  <dcterms:modified xsi:type="dcterms:W3CDTF">2026-08-03T23:35:45Z</dcterms:modified>
</cp:coreProperties>
</file>